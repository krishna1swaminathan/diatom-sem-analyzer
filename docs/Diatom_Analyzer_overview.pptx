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tool: images in, measurements out. Everything runs on the user's own computer.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map one-to-one onto the challenge requirements.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Outline colours follow the condition. Every correction updates the measurements and is recorded in the spreadsheet.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stage is a plain rule you can inspect; all thresholds are exported with the results.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Held-out reports: reports/heldout and reports/heldout_crowded (seeds 1000-1029). Tuning frames: seeds 0-29.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from running the app's modes over the lab folders. The fix for debris-heavy and dense scenes is a detection model trained on corrected outlines (see How it works).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7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Diatom Analyzer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560320"/>
            <a:ext cx="5394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DC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in SEM images. Get every diatom counted, measured in µm and graded intact, cracked or broken, with every pore, in one Excel file.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40080" y="4160520"/>
            <a:ext cx="1645920" cy="411480"/>
          </a:xfrm>
          <a:prstGeom prst="roundRect">
            <a:avLst>
              <a:gd name="adj" fmla="val 48889"/>
            </a:avLst>
          </a:prstGeom>
          <a:solidFill>
            <a:srgbClr val="1C3F6E"/>
          </a:solidFill>
          <a:ln w="12700">
            <a:solidFill>
              <a:srgbClr val="3F6BA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a laptop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423160" y="4160520"/>
            <a:ext cx="1645920" cy="411480"/>
          </a:xfrm>
          <a:prstGeom prst="roundRect">
            <a:avLst>
              <a:gd name="adj" fmla="val 48889"/>
            </a:avLst>
          </a:prstGeom>
          <a:solidFill>
            <a:srgbClr val="1C3F6E"/>
          </a:solidFill>
          <a:ln w="12700">
            <a:solidFill>
              <a:srgbClr val="3F6BA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423160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06240" y="4160520"/>
            <a:ext cx="1645920" cy="411480"/>
          </a:xfrm>
          <a:prstGeom prst="roundRect">
            <a:avLst>
              <a:gd name="adj" fmla="val 48889"/>
            </a:avLst>
          </a:prstGeom>
          <a:solidFill>
            <a:srgbClr val="1C3F6E"/>
          </a:solidFill>
          <a:ln w="12700">
            <a:solidFill>
              <a:srgbClr val="3F6B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206240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programming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5989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W&amp;M Nano &amp; Biomaterials Lab · Challenge #1</a:t>
            </a:r>
            <a:endParaRPr lang="en-US" sz="1300" dirty="0"/>
          </a:p>
        </p:txBody>
      </p:sp>
      <p:pic>
        <p:nvPicPr>
          <p:cNvPr id="11" name="Image 0" descr="/tmp/claude-0/-home-user-diatom-sem-analyzer/c2c889a1-ffb5-5b3f-b137-bbfaddda14e3/scratchpad/deck/overla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325880"/>
            <a:ext cx="5120640" cy="4197096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does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diatom in every image, automatically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20440" cy="2057400"/>
          </a:xfrm>
          <a:prstGeom prst="roundRect">
            <a:avLst>
              <a:gd name="adj" fmla="val 6667"/>
            </a:avLst>
          </a:prstGeom>
          <a:solidFill>
            <a:srgbClr val="F5F8FC"/>
          </a:solidFill>
          <a:ln w="12700">
            <a:solidFill>
              <a:srgbClr val="DFE6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Counts every diatom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172968"/>
            <a:ext cx="3063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Outlined and numbered on the image; touching diatoms are separated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297680" y="1828800"/>
            <a:ext cx="3520440" cy="2057400"/>
          </a:xfrm>
          <a:prstGeom prst="roundRect">
            <a:avLst>
              <a:gd name="adj" fmla="val 6667"/>
            </a:avLst>
          </a:prstGeom>
          <a:solidFill>
            <a:srgbClr val="F5F8FC"/>
          </a:solidFill>
          <a:ln w="12700">
            <a:solidFill>
              <a:srgbClr val="DFE6E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0" y="210312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µm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78892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Measures it in µm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3172968"/>
            <a:ext cx="3063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Length, width, area. Scale from the microscope file or scale bar, never assumed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046720" y="1828800"/>
            <a:ext cx="3520440" cy="2057400"/>
          </a:xfrm>
          <a:prstGeom prst="roundRect">
            <a:avLst>
              <a:gd name="adj" fmla="val 6667"/>
            </a:avLst>
          </a:prstGeom>
          <a:solidFill>
            <a:srgbClr val="F5F8FC"/>
          </a:solidFill>
          <a:ln w="12700">
            <a:solidFill>
              <a:srgbClr val="DFE6E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21040" y="210312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∠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278892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Reports orientation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3172968"/>
            <a:ext cx="3063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Long-axis angle, and whether it lies face-on or on its side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48640" y="4160520"/>
            <a:ext cx="3520440" cy="2057400"/>
          </a:xfrm>
          <a:prstGeom prst="roundRect">
            <a:avLst>
              <a:gd name="adj" fmla="val 6667"/>
            </a:avLst>
          </a:prstGeom>
          <a:solidFill>
            <a:srgbClr val="F5F8FC"/>
          </a:solidFill>
          <a:ln w="12700">
            <a:solidFill>
              <a:srgbClr val="DFE6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4434840"/>
            <a:ext cx="566928" cy="566928"/>
          </a:xfrm>
          <a:prstGeom prst="ellipse">
            <a:avLst/>
          </a:prstGeom>
          <a:solidFill>
            <a:srgbClr val="0CA30C"/>
          </a:solidFill>
          <a:ln w="12700">
            <a:solidFill>
              <a:srgbClr val="0CA30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4434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512064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Grades its condition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5504688"/>
            <a:ext cx="3063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Intact, cracked or broken, colour-coded on the image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4297680" y="4160520"/>
            <a:ext cx="3520440" cy="2057400"/>
          </a:xfrm>
          <a:prstGeom prst="roundRect">
            <a:avLst>
              <a:gd name="adj" fmla="val 6667"/>
            </a:avLst>
          </a:prstGeom>
          <a:solidFill>
            <a:srgbClr val="F5F8FC"/>
          </a:solidFill>
          <a:ln w="12700">
            <a:solidFill>
              <a:srgbClr val="DFE6E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0" y="443484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72000" y="4434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0" y="512064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 its shape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0" y="5504688"/>
            <a:ext cx="3063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or elongated, side view or broken piece; species once taught a few examples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8046720" y="4160520"/>
            <a:ext cx="3520440" cy="2057400"/>
          </a:xfrm>
          <a:prstGeom prst="roundRect">
            <a:avLst>
              <a:gd name="adj" fmla="val 6667"/>
            </a:avLst>
          </a:prstGeom>
          <a:solidFill>
            <a:srgbClr val="F5F8FC"/>
          </a:solidFill>
          <a:ln w="12700">
            <a:solidFill>
              <a:srgbClr val="DFE6E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21040" y="4434840"/>
            <a:ext cx="566928" cy="566928"/>
          </a:xfrm>
          <a:prstGeom prst="ellipse">
            <a:avLst/>
          </a:prstGeom>
          <a:solidFill>
            <a:srgbClr val="56B4E9"/>
          </a:solidFill>
          <a:ln w="12700">
            <a:solidFill>
              <a:srgbClr val="56B4E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321040" y="4434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•••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8321040" y="512064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Measures every pore</a:t>
            </a:r>
            <a:endParaRPr lang="en-US" sz="1700" dirty="0"/>
          </a:p>
        </p:txBody>
      </p:sp>
      <p:sp>
        <p:nvSpPr>
          <p:cNvPr id="33" name="Text 31"/>
          <p:cNvSpPr txBox="1"/>
          <p:nvPr/>
        </p:nvSpPr>
        <p:spPr>
          <a:xfrm>
            <a:off x="8321040" y="5504688"/>
            <a:ext cx="3063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and diameter of each pore, plus density and spacing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steps, no programming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Double-click to start; it opens in the web browser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7647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images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214884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in SEM images (TIF, JPG, PNG). Hitachi: add the .txt file too.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953512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9535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93522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the sample type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3319272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Diatoms apart · packed round cells · crowded, I'll mark them myself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4123944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1239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410565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and fix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4489704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missed diatom by dragging tip to tip; remove a wrong one; set a condition; undo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5294376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2943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527608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Download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325880" y="5660136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Excel file: every diatom, every pore, a summary, and a column guide</a:t>
            </a:r>
            <a:endParaRPr lang="en-US" sz="1350" dirty="0"/>
          </a:p>
        </p:txBody>
      </p:sp>
      <p:pic>
        <p:nvPicPr>
          <p:cNvPr id="20" name="Image 0" descr="/tmp/claude-0/-home-user-diatom-sem-analyzer/c2c889a1-ffb5-5b3f-b137-bbfaddda14e3/scratchpad/deck/resul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1691640"/>
            <a:ext cx="5486400" cy="3721608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pic>
      <p:sp>
        <p:nvSpPr>
          <p:cNvPr id="21" name="Shape 18"/>
          <p:cNvSpPr/>
          <p:nvPr/>
        </p:nvSpPr>
        <p:spPr>
          <a:xfrm>
            <a:off x="6172200" y="5687568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0CA30C"/>
          </a:solidFill>
          <a:ln w="12700">
            <a:solidFill>
              <a:srgbClr val="0CA3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28232" y="5596128"/>
            <a:ext cx="630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Intact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242048" y="5687568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FAB219"/>
          </a:solidFill>
          <a:ln w="12700">
            <a:solidFill>
              <a:srgbClr val="FAB219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498080" y="5596128"/>
            <a:ext cx="7086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Cracked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8389620" y="5687568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D03B3B"/>
          </a:solidFill>
          <a:ln w="12700">
            <a:solidFill>
              <a:srgbClr val="D03B3B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5652" y="5596128"/>
            <a:ext cx="630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9459468" y="5687568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AAAAAA"/>
          </a:solidFill>
          <a:ln w="12700">
            <a:solidFill>
              <a:srgbClr val="AAAAA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715500" y="5596128"/>
            <a:ext cx="16413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/ not assessed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11539728" y="5687568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56B4E9"/>
          </a:solidFill>
          <a:ln w="12700">
            <a:solidFill>
              <a:srgbClr val="56B4E9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1795760" y="5596128"/>
            <a:ext cx="475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image analysis: fast, explainable, and runs on any laptop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737360" cy="2926080"/>
          </a:xfrm>
          <a:prstGeom prst="roundRect">
            <a:avLst>
              <a:gd name="adj" fmla="val 7368"/>
            </a:avLst>
          </a:prstGeom>
          <a:solidFill>
            <a:srgbClr val="EAF2FC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14884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74320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154680"/>
            <a:ext cx="1417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from the microscope's file, else the scale bar's length and label, else the tick ruler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2267712" y="310896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2450592" y="1920240"/>
            <a:ext cx="1737360" cy="2926080"/>
          </a:xfrm>
          <a:prstGeom prst="roundRect">
            <a:avLst>
              <a:gd name="adj" fmla="val 7368"/>
            </a:avLst>
          </a:prstGeom>
          <a:solidFill>
            <a:srgbClr val="F5F8FC"/>
          </a:solidFill>
          <a:ln w="12700">
            <a:solidFill>
              <a:srgbClr val="DFE6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33472" y="214884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633472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33472" y="274320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633472" y="3154680"/>
            <a:ext cx="1417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diatoms from background; split touching ones; circle-finding for packed cultures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169664" y="310896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4352544" y="1920240"/>
            <a:ext cx="1737360" cy="2926080"/>
          </a:xfrm>
          <a:prstGeom prst="roundRect">
            <a:avLst>
              <a:gd name="adj" fmla="val 7368"/>
            </a:avLst>
          </a:prstGeom>
          <a:solidFill>
            <a:srgbClr val="F5F8FC"/>
          </a:solidFill>
          <a:ln w="12700">
            <a:solidFill>
              <a:srgbClr val="DFE6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35424" y="214884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35424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535424" y="274320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4535424" y="3154680"/>
            <a:ext cx="1417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Rotated box for length and width; long-axis angle; face-on or side view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071616" y="310896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254496" y="1920240"/>
            <a:ext cx="1737360" cy="2926080"/>
          </a:xfrm>
          <a:prstGeom prst="roundRect">
            <a:avLst>
              <a:gd name="adj" fmla="val 7368"/>
            </a:avLst>
          </a:prstGeom>
          <a:solidFill>
            <a:srgbClr val="F5F8FC"/>
          </a:solidFill>
          <a:ln w="12700">
            <a:solidFill>
              <a:srgbClr val="DFE6E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37376" y="214884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37376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437376" y="274320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Pores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437376" y="3154680"/>
            <a:ext cx="1417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spots inside each shell, sized at half their depth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7973568" y="310896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8156448" y="1920240"/>
            <a:ext cx="1737360" cy="2926080"/>
          </a:xfrm>
          <a:prstGeom prst="roundRect">
            <a:avLst>
              <a:gd name="adj" fmla="val 7368"/>
            </a:avLst>
          </a:prstGeom>
          <a:solidFill>
            <a:srgbClr val="F5F8FC"/>
          </a:solidFill>
          <a:ln w="12700">
            <a:solidFill>
              <a:srgbClr val="DFE6E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39328" y="214884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339328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8339328" y="274320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8339328" y="3154680"/>
            <a:ext cx="1417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 inward corners and bites = broken; long crack lines or chips = cracked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9875520" y="310896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10058400" y="1920240"/>
            <a:ext cx="1737360" cy="2926080"/>
          </a:xfrm>
          <a:prstGeom prst="roundRect">
            <a:avLst>
              <a:gd name="adj" fmla="val 7368"/>
            </a:avLst>
          </a:prstGeom>
          <a:solidFill>
            <a:srgbClr val="F5F8FC"/>
          </a:solidFill>
          <a:ln w="12700">
            <a:solidFill>
              <a:srgbClr val="DFE6E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241280" y="214884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024128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0" y="274320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Species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10241280" y="3154680"/>
            <a:ext cx="1417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shape, size, pores and texture against a few examples per species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548640" y="5166360"/>
            <a:ext cx="11064240" cy="960120"/>
          </a:xfrm>
          <a:prstGeom prst="roundRect">
            <a:avLst>
              <a:gd name="adj" fmla="val 13333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22960" y="52120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it's too hard: </a:t>
            </a:r>
            <a:pPr indent="0" marL="0">
              <a:buNone/>
            </a:pPr>
            <a:r>
              <a:rPr lang="en-US" sz="14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user marks diatoms by dragging tip to tip and the outline is traced for them. Those corrected outlines can train a Cellpose model on the lab's own images (in a test on 8 unseen crowded frames: 96 % found vs 65 % for the classical method).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accurate: tested on unseen images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Tuned on 30 generated SEM frames, scored on 30 new frames never used for tuning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20440" cy="1783080"/>
          </a:xfrm>
          <a:prstGeom prst="roundRect">
            <a:avLst>
              <a:gd name="adj" fmla="val 7692"/>
            </a:avLst>
          </a:prstGeom>
          <a:solidFill>
            <a:srgbClr val="F5F8FC"/>
          </a:solidFill>
          <a:ln w="12700">
            <a:solidFill>
              <a:srgbClr val="DFE6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142/142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88036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diatoms found when lying apart, no false detections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297680" y="1783080"/>
            <a:ext cx="3520440" cy="1783080"/>
          </a:xfrm>
          <a:prstGeom prst="roundRect">
            <a:avLst>
              <a:gd name="adj" fmla="val 7692"/>
            </a:avLst>
          </a:prstGeom>
          <a:solidFill>
            <a:srgbClr val="F5F8FC"/>
          </a:solidFill>
          <a:ln w="12700">
            <a:solidFill>
              <a:srgbClr val="DFE6E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20116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0.8 %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88036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length error (scale read from the scale bar)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046720" y="1783080"/>
            <a:ext cx="3520440" cy="1783080"/>
          </a:xfrm>
          <a:prstGeom prst="roundRect">
            <a:avLst>
              <a:gd name="adj" fmla="val 7692"/>
            </a:avLst>
          </a:prstGeom>
          <a:solidFill>
            <a:srgbClr val="F5F8FC"/>
          </a:solidFill>
          <a:ln w="12700">
            <a:solidFill>
              <a:srgbClr val="DFE6E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20116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7F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97 %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288036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 correct: intact 85/85, cracked 28/32, broken 25/25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3520440" cy="1783080"/>
          </a:xfrm>
          <a:prstGeom prst="roundRect">
            <a:avLst>
              <a:gd name="adj" fmla="val 7692"/>
            </a:avLst>
          </a:prstGeom>
          <a:solidFill>
            <a:srgbClr val="F5F8FC"/>
          </a:solidFill>
          <a:ln w="12700">
            <a:solidFill>
              <a:srgbClr val="DFE6E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02336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 → 98 %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89204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species correct with 1 → 5 reference examples each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297680" y="3794760"/>
            <a:ext cx="3520440" cy="1783080"/>
          </a:xfrm>
          <a:prstGeom prst="roundRect">
            <a:avLst>
              <a:gd name="adj" fmla="val 7692"/>
            </a:avLst>
          </a:prstGeom>
          <a:solidFill>
            <a:srgbClr val="F5F8FC"/>
          </a:solidFill>
          <a:ln w="12700">
            <a:solidFill>
              <a:srgbClr val="DFE6E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0" y="402336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1.7 %</a:t>
            </a:r>
            <a:endParaRPr lang="en-US" sz="40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0" y="489204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error in pore count per diatom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8046720" y="3794760"/>
            <a:ext cx="3520440" cy="1783080"/>
          </a:xfrm>
          <a:prstGeom prst="roundRect">
            <a:avLst>
              <a:gd name="adj" fmla="val 7692"/>
            </a:avLst>
          </a:prstGeom>
          <a:solidFill>
            <a:srgbClr val="F5F8FC"/>
          </a:solidFill>
          <a:ln w="12700">
            <a:solidFill>
              <a:srgbClr val="DFE6E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21040" y="402336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07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71 %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489204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in crowded, overlapping scenes (94 % of outlines correct)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Species: reference examples are separate specimen images; scoring uses the diatoms in the test frames (a true train / test split). Generated images have exact answers but are cleaner than real ones.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 lab's own images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123 SEM images from a Phenom desktop SEM and a Hitachi S-4700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960120"/>
          </a:xfrm>
          <a:prstGeom prst="roundRect">
            <a:avLst>
              <a:gd name="adj" fmla="val 13333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82880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Scale: 123 / 123 </a:t>
            </a:r>
            <a:pPr indent="0" marL="0">
              <a:buNone/>
            </a:pPr>
            <a:r>
              <a:rPr lang="en-US" sz="15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from the microscope's file. Reading the scale bar alone agrees on all 122 images where it can be checked.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3017520"/>
            <a:ext cx="5440680" cy="3291840"/>
          </a:xfrm>
          <a:prstGeom prst="roundRect">
            <a:avLst>
              <a:gd name="adj" fmla="val 4167"/>
            </a:avLst>
          </a:prstGeom>
          <a:solidFill>
            <a:srgbClr val="F5F8FC"/>
          </a:solidFill>
          <a:ln w="12700">
            <a:solidFill>
              <a:srgbClr val="DFE6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246120"/>
            <a:ext cx="457200" cy="457200"/>
          </a:xfrm>
          <a:prstGeom prst="ellipse">
            <a:avLst/>
          </a:prstGeom>
          <a:solidFill>
            <a:srgbClr val="0CA30C"/>
          </a:solidFill>
          <a:ln w="12700">
            <a:solidFill>
              <a:srgbClr val="0CA30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246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32461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automatically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886200"/>
            <a:ext cx="49377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Diatoms on a clean background (Richmond pennates, 1-10 per image)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Packed Thalassiosira cultures: 90-120 valves per image in round-cell mode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Hitachi images at 3,000×: 30-45 valves each, scale from the .txt file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1-20 s per image on a laptop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72200" y="3017520"/>
            <a:ext cx="5440680" cy="3291840"/>
          </a:xfrm>
          <a:prstGeom prst="roundRect">
            <a:avLst>
              <a:gd name="adj" fmla="val 4167"/>
            </a:avLst>
          </a:prstGeom>
          <a:solidFill>
            <a:srgbClr val="F5F8FC"/>
          </a:solidFill>
          <a:ln w="12700">
            <a:solidFill>
              <a:srgbClr val="DF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46520" y="3246120"/>
            <a:ext cx="457200" cy="457200"/>
          </a:xfrm>
          <a:prstGeom prst="ellipse">
            <a:avLst/>
          </a:prstGeom>
          <a:solidFill>
            <a:srgbClr val="FAB219"/>
          </a:solidFill>
          <a:ln w="12700">
            <a:solidFill>
              <a:srgbClr val="FAB21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46520" y="3246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040880" y="32461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the user's help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3886200"/>
            <a:ext cx="49377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Debris-heavy diatomite: mineral grains get outlined; remove them or mark diatoms by hand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Didymosphenia fields: mark each cell by dragging tip to tip, then grade it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Close-ups of one or two cells: round-cell mode can add false circles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Real-image counting accuracy not yet measured: needs 10-20 hand-labelled images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27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2011680"/>
            <a:ext cx="3474720" cy="2103120"/>
          </a:xfrm>
          <a:prstGeom prst="roundRect">
            <a:avLst>
              <a:gd name="adj" fmla="val 6522"/>
            </a:avLst>
          </a:prstGeom>
          <a:solidFill>
            <a:srgbClr val="1C3F6E"/>
          </a:solidFill>
          <a:ln w="12700">
            <a:solidFill>
              <a:srgbClr val="3F6B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286000"/>
            <a:ext cx="548640" cy="54864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9718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 Python 3.10+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3832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C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python.org (once per computer)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89120" y="2011680"/>
            <a:ext cx="3474720" cy="2103120"/>
          </a:xfrm>
          <a:prstGeom prst="roundRect">
            <a:avLst>
              <a:gd name="adj" fmla="val 6522"/>
            </a:avLst>
          </a:prstGeom>
          <a:solidFill>
            <a:srgbClr val="1C3F6E"/>
          </a:solidFill>
          <a:ln w="12700">
            <a:solidFill>
              <a:srgbClr val="3F6BA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2286000"/>
            <a:ext cx="548640" cy="54864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29718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Double-click the launcher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3832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C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Diatom Analyzer (Mac).command or (Windows).bat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138160" y="2011680"/>
            <a:ext cx="3474720" cy="2103120"/>
          </a:xfrm>
          <a:prstGeom prst="roundRect">
            <a:avLst>
              <a:gd name="adj" fmla="val 6522"/>
            </a:avLst>
          </a:prstGeom>
          <a:solidFill>
            <a:srgbClr val="1C3F6E"/>
          </a:solidFill>
          <a:ln w="12700">
            <a:solidFill>
              <a:srgbClr val="3F6BA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0" y="2286000"/>
            <a:ext cx="548640" cy="54864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1248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29718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Drag in your SEM images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33832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C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download the Excel file at the end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7548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stays on your computer: no cloud, no GPU, no images uploaded. Built with open-source Python (scikit-image, OpenCV, Streamlit).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Diatom Analyzer</dc:title>
  <dc:subject>PptxGenJS Presentation</dc:subject>
  <dc:creator>PptxGenJS</dc:creator>
  <cp:lastModifiedBy>PptxGenJS</cp:lastModifiedBy>
  <cp:revision>1</cp:revision>
  <dcterms:created xsi:type="dcterms:W3CDTF">2026-09-27T14:07:02Z</dcterms:created>
  <dcterms:modified xsi:type="dcterms:W3CDTF">2026-09-27T14:07:02Z</dcterms:modified>
</cp:coreProperties>
</file>